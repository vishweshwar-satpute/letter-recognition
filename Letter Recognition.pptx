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61" r:id="rId4"/>
    <p:sldId id="266" r:id="rId5"/>
    <p:sldId id="258" r:id="rId6"/>
    <p:sldId id="259" r:id="rId7"/>
    <p:sldId id="260" r:id="rId8"/>
    <p:sldId id="262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43515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889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87295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08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60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52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891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67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08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840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58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982EAF0-F587-402E-B8BB-780A54543F62}" type="datetimeFigureOut">
              <a:rPr lang="en-IN" smtClean="0"/>
              <a:t>24-08-2020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723F109-1420-40F8-8183-EA2AB8930C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87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C937-E332-4885-95C9-44DF4E7DCF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b="1" i="0" dirty="0">
                <a:effectLst/>
                <a:latin typeface="Helvetica Neue"/>
              </a:rPr>
              <a:t>Letter Recognition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14746-7242-44E8-95BF-8EBA09368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Vishweshwar Satpute</a:t>
            </a:r>
          </a:p>
          <a:p>
            <a:r>
              <a:rPr lang="en-US" dirty="0"/>
              <a:t>Batch: Nov 19</a:t>
            </a:r>
          </a:p>
        </p:txBody>
      </p:sp>
    </p:spTree>
    <p:extLst>
      <p:ext uri="{BB962C8B-B14F-4D97-AF65-F5344CB8AC3E}">
        <p14:creationId xmlns:p14="http://schemas.microsoft.com/office/powerpoint/2010/main" val="2730438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BA97-EE0C-4A41-908B-41C53569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Objective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2CBD-FA94-4761-9F04-2376AE5AF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500" u="sng" dirty="0"/>
              <a:t>Problem Statement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Applying Machine Learning Algorithm to identify the uppercase alphabets.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7376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A021C6-10DD-416D-836C-5EC1AA703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0988"/>
            <a:ext cx="12069658" cy="182183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37CFA6-4DE0-4A9C-9A43-9C35E5296A29}"/>
              </a:ext>
            </a:extLst>
          </p:cNvPr>
          <p:cNvSpPr txBox="1"/>
          <p:nvPr/>
        </p:nvSpPr>
        <p:spPr>
          <a:xfrm>
            <a:off x="186763" y="3367163"/>
            <a:ext cx="71262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From the above columns we can remove/drop the id column as it do not help in order to find the target variable. Hence drop the id column 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B9038-4CD3-4569-BC45-E3B5D23F577C}"/>
              </a:ext>
            </a:extLst>
          </p:cNvPr>
          <p:cNvSpPr txBox="1"/>
          <p:nvPr/>
        </p:nvSpPr>
        <p:spPr>
          <a:xfrm>
            <a:off x="186763" y="5087835"/>
            <a:ext cx="71262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Analysis the data can find no duplicate value in the Data set .</a:t>
            </a:r>
          </a:p>
          <a:p>
            <a:r>
              <a:rPr lang="en-US" sz="2000" dirty="0"/>
              <a:t>There are 16 integer value and one object variable which is Letter column.</a:t>
            </a:r>
          </a:p>
          <a:p>
            <a:r>
              <a:rPr lang="en-US" sz="2000" dirty="0"/>
              <a:t> </a:t>
            </a:r>
            <a:endParaRPr lang="en-IN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C42DCA-2445-45AC-89DC-0A52C7F05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009" y="2483893"/>
            <a:ext cx="4692228" cy="425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11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F637F-CB3C-4C89-B771-AE5B7F8E1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After Processing the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A14A3-4840-4775-9EF7-AC99193FA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b="0" i="0" spc="0" dirty="0">
              <a:solidFill>
                <a:srgbClr val="000000"/>
              </a:solidFill>
              <a:effectLst/>
            </a:endParaRPr>
          </a:p>
          <a:p>
            <a:r>
              <a:rPr lang="en-US" sz="2000" b="0" i="0" spc="0" dirty="0">
                <a:solidFill>
                  <a:srgbClr val="000000"/>
                </a:solidFill>
                <a:effectLst/>
              </a:rPr>
              <a:t>Number of instances: 16,000 </a:t>
            </a:r>
          </a:p>
          <a:p>
            <a:r>
              <a:rPr lang="en-US" sz="2000" b="0" i="0" spc="0" dirty="0">
                <a:solidFill>
                  <a:srgbClr val="000000"/>
                </a:solidFill>
                <a:effectLst/>
              </a:rPr>
              <a:t>Number of attributes: 17 (letter category and 16 numeric features)</a:t>
            </a:r>
          </a:p>
          <a:p>
            <a:r>
              <a:rPr lang="en-US" sz="2000" b="0" i="0" spc="0" dirty="0">
                <a:solidFill>
                  <a:srgbClr val="000000"/>
                </a:solidFill>
                <a:effectLst/>
              </a:rPr>
              <a:t>Attribute characteristics: Integer </a:t>
            </a:r>
          </a:p>
          <a:p>
            <a:r>
              <a:rPr lang="en-US" sz="2000" b="0" i="0" spc="0" dirty="0">
                <a:solidFill>
                  <a:srgbClr val="000000"/>
                </a:solidFill>
                <a:effectLst/>
              </a:rPr>
              <a:t>Associated Tasks: Classification </a:t>
            </a:r>
          </a:p>
          <a:p>
            <a:r>
              <a:rPr lang="en-US" sz="2000" b="0" i="0" spc="0" dirty="0">
                <a:solidFill>
                  <a:srgbClr val="000000"/>
                </a:solidFill>
                <a:effectLst/>
              </a:rPr>
              <a:t>Missing Attribute Values: None</a:t>
            </a:r>
          </a:p>
          <a:p>
            <a:r>
              <a:rPr lang="en-US" sz="2000" spc="0" dirty="0">
                <a:solidFill>
                  <a:srgbClr val="000000"/>
                </a:solidFill>
              </a:rPr>
              <a:t>No Duplicate values found.</a:t>
            </a:r>
          </a:p>
          <a:p>
            <a:r>
              <a:rPr lang="en-US" sz="2000" spc="0" dirty="0">
                <a:solidFill>
                  <a:srgbClr val="000000"/>
                </a:solidFill>
              </a:rPr>
              <a:t>Dropped id column</a:t>
            </a:r>
            <a:endParaRPr lang="en-IN" sz="2000" spc="0" dirty="0"/>
          </a:p>
        </p:txBody>
      </p:sp>
    </p:spTree>
    <p:extLst>
      <p:ext uri="{BB962C8B-B14F-4D97-AF65-F5344CB8AC3E}">
        <p14:creationId xmlns:p14="http://schemas.microsoft.com/office/powerpoint/2010/main" val="1887332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916B-70FB-4A57-B3CF-DC812508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/>
              <a:t>Frequency of letters 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945456-0808-42AA-B410-189483CAA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483" y="1726442"/>
            <a:ext cx="7649418" cy="5131558"/>
          </a:xfrm>
        </p:spPr>
      </p:pic>
    </p:spTree>
    <p:extLst>
      <p:ext uri="{BB962C8B-B14F-4D97-AF65-F5344CB8AC3E}">
        <p14:creationId xmlns:p14="http://schemas.microsoft.com/office/powerpoint/2010/main" val="2399089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ACBC-20CD-4EE5-8DDF-E8C5E6CC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/>
              <a:t>Splitting the Data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57C2-5A7B-4785-BAC3-305716657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7903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Splitting the data into X , Y  considering Training 80%  &amp; Testing 20%  for each respectively.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Shape of x Training Data is (12800, 16)</a:t>
            </a:r>
          </a:p>
          <a:p>
            <a:endParaRPr lang="en-US" sz="2000" dirty="0"/>
          </a:p>
          <a:p>
            <a:r>
              <a:rPr lang="en-US" sz="2000" dirty="0"/>
              <a:t>Shape of x Test Data is (3200, 16)</a:t>
            </a:r>
          </a:p>
          <a:p>
            <a:endParaRPr lang="en-US" sz="2000" dirty="0"/>
          </a:p>
          <a:p>
            <a:r>
              <a:rPr lang="en-US" sz="2000" dirty="0"/>
              <a:t>Shape of y Training Data is (12800,)</a:t>
            </a:r>
          </a:p>
          <a:p>
            <a:endParaRPr lang="en-US" sz="2000" dirty="0"/>
          </a:p>
          <a:p>
            <a:r>
              <a:rPr lang="en-US" sz="2000" dirty="0"/>
              <a:t>Shape of y Test Data is (3200,)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3231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FB82-5484-4936-B7E9-DCBE4A8B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/>
              <a:t>Support Vector Machine (SVM)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2EB78-29CE-430C-96A4-6F14F52C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500" b="1" dirty="0"/>
              <a:t>linear model</a:t>
            </a:r>
          </a:p>
          <a:p>
            <a:pPr marL="0" indent="0">
              <a:buNone/>
            </a:pPr>
            <a:r>
              <a:rPr lang="en-US" sz="2000" dirty="0"/>
              <a:t>	Accuracy: 0.86</a:t>
            </a:r>
          </a:p>
          <a:p>
            <a:pPr marL="0" indent="0">
              <a:buNone/>
            </a:pPr>
            <a:r>
              <a:rPr lang="en-IN" sz="2500" b="1" dirty="0"/>
              <a:t>non-linear model</a:t>
            </a:r>
          </a:p>
          <a:p>
            <a:pPr marL="0" indent="0">
              <a:buNone/>
            </a:pPr>
            <a:r>
              <a:rPr lang="en-IN" sz="2000" b="1" dirty="0"/>
              <a:t>	</a:t>
            </a:r>
            <a:r>
              <a:rPr lang="en-US" sz="2000" dirty="0"/>
              <a:t> Accuracy: 0.92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The accuracy achieved using a non-linear kernel (0.92) is mush higher than that of a linear one (0.86). We can conclude that the problem is highly non-linear in nature.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82929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7B79-AA4F-4CCF-B2F0-1E728BF4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98887"/>
            <a:ext cx="11245755" cy="1325562"/>
          </a:xfrm>
        </p:spPr>
        <p:txBody>
          <a:bodyPr anchor="ctr"/>
          <a:lstStyle/>
          <a:p>
            <a:r>
              <a:rPr lang="en-US" b="1" dirty="0"/>
              <a:t>Decision </a:t>
            </a:r>
            <a:br>
              <a:rPr lang="en-US" b="1" dirty="0"/>
            </a:br>
            <a:r>
              <a:rPr lang="en-US" b="1" dirty="0"/>
              <a:t>Tree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BAC52-2E96-4619-8678-1A4F6FBE5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379770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Accuracy: 0.86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96D2FD-C815-4F32-82B0-C0A954418FE4}"/>
              </a:ext>
            </a:extLst>
          </p:cNvPr>
          <p:cNvSpPr txBox="1">
            <a:spLocks/>
          </p:cNvSpPr>
          <p:nvPr/>
        </p:nvSpPr>
        <p:spPr>
          <a:xfrm>
            <a:off x="1" y="2101162"/>
            <a:ext cx="112457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b="1" dirty="0"/>
              <a:t>Random </a:t>
            </a:r>
          </a:p>
          <a:p>
            <a:pPr algn="r"/>
            <a:r>
              <a:rPr lang="en-US" b="1" dirty="0"/>
              <a:t>Forest</a:t>
            </a:r>
            <a:endParaRPr lang="en-IN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6A9B83-690F-4CD7-8DA5-A824403D998C}"/>
              </a:ext>
            </a:extLst>
          </p:cNvPr>
          <p:cNvSpPr txBox="1">
            <a:spLocks/>
          </p:cNvSpPr>
          <p:nvPr/>
        </p:nvSpPr>
        <p:spPr>
          <a:xfrm>
            <a:off x="1" y="3721503"/>
            <a:ext cx="112457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dirty="0"/>
              <a:t>	Accuracy: 0.95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B7FFD5-39D6-433B-9267-C3962C26A049}"/>
              </a:ext>
            </a:extLst>
          </p:cNvPr>
          <p:cNvSpPr txBox="1">
            <a:spLocks/>
          </p:cNvSpPr>
          <p:nvPr/>
        </p:nvSpPr>
        <p:spPr>
          <a:xfrm>
            <a:off x="1" y="2103437"/>
            <a:ext cx="112457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KNN</a:t>
            </a:r>
            <a:endParaRPr lang="en-IN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CB1966-7100-48DF-8D07-FF8139EC1B9B}"/>
              </a:ext>
            </a:extLst>
          </p:cNvPr>
          <p:cNvSpPr txBox="1">
            <a:spLocks/>
          </p:cNvSpPr>
          <p:nvPr/>
        </p:nvSpPr>
        <p:spPr>
          <a:xfrm>
            <a:off x="1" y="3759603"/>
            <a:ext cx="112457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Accuracy: 0.94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785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8FAF-003E-427C-AB77-0E3DAF347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59EBB-3782-4332-8E8B-1E33693ED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Applied different algorithm on the data to test the accuracy of the respective model.</a:t>
            </a:r>
          </a:p>
          <a:p>
            <a:r>
              <a:rPr lang="en-US" sz="2500" dirty="0"/>
              <a:t>Looking at the output of the different model, Random Forest performed better when compared to the SVM, Decision Tree &amp; KNN.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982763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FF246AC-1516-4DA3-BC63-618D9CFFF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343" y="628547"/>
            <a:ext cx="9629314" cy="5600905"/>
          </a:xfrm>
        </p:spPr>
        <p:txBody>
          <a:bodyPr anchor="ctr">
            <a:normAutofit/>
          </a:bodyPr>
          <a:lstStyle/>
          <a:p>
            <a:pPr algn="ctr"/>
            <a:r>
              <a:rPr lang="en-US" sz="15000" b="1" dirty="0">
                <a:latin typeface="Vladimir Script" panose="03050402040407070305" pitchFamily="66" charset="0"/>
              </a:rPr>
              <a:t>Thank You </a:t>
            </a:r>
            <a:endParaRPr lang="en-IN" sz="15000" b="1" dirty="0">
              <a:latin typeface="Vladimir Script" panose="030504020404070703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12883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517</TotalTime>
  <Words>298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Schoolbook</vt:lpstr>
      <vt:lpstr>Helvetica Neue</vt:lpstr>
      <vt:lpstr>Vladimir Script</vt:lpstr>
      <vt:lpstr>Wingdings 2</vt:lpstr>
      <vt:lpstr>View</vt:lpstr>
      <vt:lpstr>Letter Recognition</vt:lpstr>
      <vt:lpstr>Objective </vt:lpstr>
      <vt:lpstr>PowerPoint Presentation</vt:lpstr>
      <vt:lpstr>After Processing the Data</vt:lpstr>
      <vt:lpstr>Frequency of letters </vt:lpstr>
      <vt:lpstr>Splitting the Data </vt:lpstr>
      <vt:lpstr>Support Vector Machine (SVM)</vt:lpstr>
      <vt:lpstr>Decision  Tree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satpute vishweshwar</dc:creator>
  <cp:lastModifiedBy>satpute vishweshwar</cp:lastModifiedBy>
  <cp:revision>18</cp:revision>
  <dcterms:created xsi:type="dcterms:W3CDTF">2020-08-23T14:58:29Z</dcterms:created>
  <dcterms:modified xsi:type="dcterms:W3CDTF">2020-08-24T17:58:59Z</dcterms:modified>
</cp:coreProperties>
</file>